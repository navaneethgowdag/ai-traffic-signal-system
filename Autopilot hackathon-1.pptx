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59" r:id="rId5"/>
    <p:sldId id="287" r:id="rId6"/>
    <p:sldId id="288" r:id="rId7"/>
    <p:sldId id="278" r:id="rId8"/>
    <p:sldId id="273" r:id="rId9"/>
    <p:sldId id="281" r:id="rId10"/>
    <p:sldId id="290" r:id="rId11"/>
    <p:sldId id="285" r:id="rId12"/>
    <p:sldId id="292" r:id="rId13"/>
    <p:sldId id="293" r:id="rId14"/>
    <p:sldId id="280" r:id="rId15"/>
    <p:sldId id="277"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103" d="100"/>
          <a:sy n="103"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3641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1180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586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dirty="0"/>
          </a:p>
          <a:p>
            <a:pPr algn="ctr"/>
            <a:r>
              <a:rPr lang="en-US" b="1" dirty="0"/>
              <a:t>AI-Based Traffic Congestion Monitoring and Alert System</a:t>
            </a:r>
          </a:p>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AUTOPILOT</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44960183"/>
              </p:ext>
            </p:extLst>
          </p:nvPr>
        </p:nvGraphicFramePr>
        <p:xfrm>
          <a:off x="2288459" y="1942024"/>
          <a:ext cx="7219435" cy="4151549"/>
        </p:xfrm>
        <a:graphic>
          <a:graphicData uri="http://schemas.openxmlformats.org/drawingml/2006/table">
            <a:tbl>
              <a:tblPr>
                <a:noFill/>
                <a:tableStyleId>{0AAD8F4D-43EB-41E5-8A38-28AB6DFB1B60}</a:tableStyleId>
              </a:tblPr>
              <a:tblGrid>
                <a:gridCol w="1586716">
                  <a:extLst>
                    <a:ext uri="{9D8B030D-6E8A-4147-A177-3AD203B41FA5}">
                      <a16:colId xmlns:a16="http://schemas.microsoft.com/office/drawing/2014/main" val="20000"/>
                    </a:ext>
                  </a:extLst>
                </a:gridCol>
                <a:gridCol w="1877573">
                  <a:extLst>
                    <a:ext uri="{9D8B030D-6E8A-4147-A177-3AD203B41FA5}">
                      <a16:colId xmlns:a16="http://schemas.microsoft.com/office/drawing/2014/main" val="20002"/>
                    </a:ext>
                  </a:extLst>
                </a:gridCol>
                <a:gridCol w="1877573">
                  <a:extLst>
                    <a:ext uri="{9D8B030D-6E8A-4147-A177-3AD203B41FA5}">
                      <a16:colId xmlns:a16="http://schemas.microsoft.com/office/drawing/2014/main" val="20003"/>
                    </a:ext>
                  </a:extLst>
                </a:gridCol>
                <a:gridCol w="1877573">
                  <a:extLst>
                    <a:ext uri="{9D8B030D-6E8A-4147-A177-3AD203B41FA5}">
                      <a16:colId xmlns:a16="http://schemas.microsoft.com/office/drawing/2014/main" val="20004"/>
                    </a:ext>
                  </a:extLst>
                </a:gridCol>
              </a:tblGrid>
              <a:tr h="905482">
                <a:tc>
                  <a:txBody>
                    <a:bodyPr/>
                    <a:lstStyle/>
                    <a:p>
                      <a:pPr marL="0" marR="0" lvl="0" indent="0" algn="ctr" rtl="0">
                        <a:spcBef>
                          <a:spcPts val="0"/>
                        </a:spcBef>
                        <a:spcAft>
                          <a:spcPts val="0"/>
                        </a:spcAft>
                        <a:buNone/>
                      </a:pPr>
                      <a:r>
                        <a:rPr lang="en-US" sz="1800" u="none" strike="noStrike" cap="none" dirty="0">
                          <a:solidFill>
                            <a:schemeClr val="tx1"/>
                          </a:solidFill>
                        </a:rPr>
                        <a:t>TEAM MEMBER NAME</a:t>
                      </a:r>
                      <a:endParaRPr sz="1800" u="none" strike="noStrike" cap="none" dirty="0">
                        <a:solidFill>
                          <a:schemeClr val="tx1"/>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solidFill>
                            <a:schemeClr val="tx1"/>
                          </a:solidFill>
                        </a:rPr>
                        <a:t>Recent Passport Photo</a:t>
                      </a:r>
                      <a:endParaRPr sz="1800" u="none" strike="noStrike" cap="none" dirty="0">
                        <a:solidFill>
                          <a:schemeClr val="tx1"/>
                        </a:solidFill>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tx1"/>
                          </a:solidFill>
                          <a:latin typeface="Calibri"/>
                          <a:ea typeface="Calibri"/>
                          <a:cs typeface="Calibri"/>
                          <a:sym typeface="Calibri"/>
                        </a:rPr>
                        <a:t>Email ID </a:t>
                      </a:r>
                      <a:endParaRPr sz="1800" u="none" strike="noStrike" cap="none" dirty="0">
                        <a:solidFill>
                          <a:schemeClr val="tx1"/>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tx1"/>
                          </a:solidFill>
                          <a:latin typeface="Calibri"/>
                          <a:ea typeface="Calibri"/>
                          <a:cs typeface="Calibri"/>
                          <a:sym typeface="Calibri"/>
                        </a:rPr>
                        <a:t>Phone number</a:t>
                      </a:r>
                      <a:endParaRPr dirty="0">
                        <a:solidFill>
                          <a:schemeClr val="tx1"/>
                        </a:solidFill>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tx1"/>
                          </a:solidFill>
                          <a:latin typeface="Calibri"/>
                          <a:ea typeface="Calibri"/>
                          <a:cs typeface="Calibri"/>
                          <a:sym typeface="Calibri"/>
                        </a:rPr>
                        <a:t>[WhatsApp] </a:t>
                      </a:r>
                      <a:endParaRPr sz="1800" u="none" strike="noStrike" cap="none" dirty="0">
                        <a:solidFill>
                          <a:schemeClr val="tx1"/>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20427">
                <a:tc>
                  <a:txBody>
                    <a:bodyPr/>
                    <a:lstStyle/>
                    <a:p>
                      <a:pPr marL="0" marR="0" lvl="0" indent="0" algn="ctr" rtl="0">
                        <a:spcBef>
                          <a:spcPts val="0"/>
                        </a:spcBef>
                        <a:spcAft>
                          <a:spcPts val="0"/>
                        </a:spcAft>
                        <a:buNone/>
                      </a:pPr>
                      <a:endParaRPr lang="en-US" sz="1600" dirty="0"/>
                    </a:p>
                    <a:p>
                      <a:pPr marL="0" marR="0" lvl="0" indent="0" algn="ctr" rtl="0">
                        <a:spcBef>
                          <a:spcPts val="0"/>
                        </a:spcBef>
                        <a:spcAft>
                          <a:spcPts val="0"/>
                        </a:spcAft>
                        <a:buNone/>
                      </a:pPr>
                      <a:r>
                        <a:rPr lang="en-US" sz="1600" dirty="0" err="1"/>
                        <a:t>Navaneeth</a:t>
                      </a:r>
                      <a:r>
                        <a:rPr lang="en-US" sz="1600" dirty="0"/>
                        <a:t> Gowda G</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IN" dirty="0"/>
                        <a:t>navaneethgowdag7@gmail.com</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600" dirty="0"/>
                    </a:p>
                    <a:p>
                      <a:pPr marL="0" marR="0" lvl="0" indent="0" algn="l" rtl="0">
                        <a:spcBef>
                          <a:spcPts val="0"/>
                        </a:spcBef>
                        <a:spcAft>
                          <a:spcPts val="0"/>
                        </a:spcAft>
                        <a:buNone/>
                      </a:pPr>
                      <a:r>
                        <a:rPr lang="en-US" sz="1600" dirty="0"/>
                        <a:t>9845980257</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49902">
                <a:tc>
                  <a:txBody>
                    <a:bodyPr/>
                    <a:lstStyle/>
                    <a:p>
                      <a:pPr marL="0" marR="0" lvl="0" indent="0" algn="ctr" rtl="0">
                        <a:spcBef>
                          <a:spcPts val="0"/>
                        </a:spcBef>
                        <a:spcAft>
                          <a:spcPts val="0"/>
                        </a:spcAft>
                        <a:buNone/>
                      </a:pPr>
                      <a:endParaRPr lang="en-US" sz="1600" dirty="0"/>
                    </a:p>
                    <a:p>
                      <a:pPr marL="0" marR="0" lvl="0" indent="0" algn="ctr" rtl="0">
                        <a:spcBef>
                          <a:spcPts val="0"/>
                        </a:spcBef>
                        <a:spcAft>
                          <a:spcPts val="0"/>
                        </a:spcAft>
                        <a:buNone/>
                      </a:pPr>
                      <a:r>
                        <a:rPr lang="en-US" sz="1600" dirty="0"/>
                        <a:t>Anushprasad A Subedar</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IN" sz="1400" dirty="0"/>
                        <a:t>anushsubedar007@gmail.com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sz="1600" dirty="0"/>
                    </a:p>
                    <a:p>
                      <a:pPr marL="0" marR="0" lvl="0" indent="0" algn="l" rtl="0">
                        <a:spcBef>
                          <a:spcPts val="0"/>
                        </a:spcBef>
                        <a:spcAft>
                          <a:spcPts val="0"/>
                        </a:spcAft>
                        <a:buNone/>
                      </a:pPr>
                      <a:r>
                        <a:rPr lang="en-IN" sz="1600" dirty="0"/>
                        <a:t>9242275866</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056394">
                <a:tc>
                  <a:txBody>
                    <a:bodyPr/>
                    <a:lstStyle/>
                    <a:p>
                      <a:pPr marL="0" marR="0" lvl="0" indent="0" algn="ctr" rtl="0">
                        <a:spcBef>
                          <a:spcPts val="0"/>
                        </a:spcBef>
                        <a:spcAft>
                          <a:spcPts val="0"/>
                        </a:spcAft>
                        <a:buNone/>
                      </a:pPr>
                      <a:endParaRPr lang="en-US" sz="1600" dirty="0"/>
                    </a:p>
                    <a:p>
                      <a:pPr marL="0" marR="0" lvl="0" indent="0" algn="ctr" rtl="0">
                        <a:spcBef>
                          <a:spcPts val="0"/>
                        </a:spcBef>
                        <a:spcAft>
                          <a:spcPts val="0"/>
                        </a:spcAft>
                        <a:buNone/>
                      </a:pPr>
                      <a:r>
                        <a:rPr lang="en-US" sz="1600" dirty="0"/>
                        <a:t>Kiran Naik</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800" dirty="0"/>
                    </a:p>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lang="en-IN"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8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dirty="0"/>
                        <a:t>Kiran.mca25@bmsce.ac.in</a:t>
                      </a:r>
                    </a:p>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800" dirty="0"/>
                    </a:p>
                    <a:p>
                      <a:pPr marL="0" marR="0" lvl="0" indent="0" algn="l" rtl="0">
                        <a:spcBef>
                          <a:spcPts val="0"/>
                        </a:spcBef>
                        <a:spcAft>
                          <a:spcPts val="0"/>
                        </a:spcAft>
                        <a:buNone/>
                      </a:pPr>
                      <a:r>
                        <a:rPr lang="en-IN" sz="1600" dirty="0"/>
                        <a:t>9353797345</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descr="A person in a suit and tie&#10;&#10;AI-generated content may be incorrect.">
            <a:extLst>
              <a:ext uri="{FF2B5EF4-FFF2-40B4-BE49-F238E27FC236}">
                <a16:creationId xmlns:a16="http://schemas.microsoft.com/office/drawing/2014/main" id="{455289FA-C2EB-5BC3-74DC-9C8999BC44F2}"/>
              </a:ext>
            </a:extLst>
          </p:cNvPr>
          <p:cNvPicPr>
            <a:picLocks noChangeAspect="1"/>
          </p:cNvPicPr>
          <p:nvPr/>
        </p:nvPicPr>
        <p:blipFill>
          <a:blip r:embed="rId4"/>
          <a:stretch>
            <a:fillRect/>
          </a:stretch>
        </p:blipFill>
        <p:spPr>
          <a:xfrm>
            <a:off x="4386807" y="3900995"/>
            <a:ext cx="813436" cy="1048749"/>
          </a:xfrm>
          <a:prstGeom prst="rect">
            <a:avLst/>
          </a:prstGeom>
        </p:spPr>
      </p:pic>
      <p:pic>
        <p:nvPicPr>
          <p:cNvPr id="3" name="Picture 2">
            <a:extLst>
              <a:ext uri="{FF2B5EF4-FFF2-40B4-BE49-F238E27FC236}">
                <a16:creationId xmlns:a16="http://schemas.microsoft.com/office/drawing/2014/main" id="{5A4A053B-601D-41CD-A40A-9CEA2523DC2A}"/>
              </a:ext>
            </a:extLst>
          </p:cNvPr>
          <p:cNvPicPr>
            <a:picLocks noChangeAspect="1"/>
          </p:cNvPicPr>
          <p:nvPr/>
        </p:nvPicPr>
        <p:blipFill>
          <a:blip r:embed="rId5"/>
          <a:stretch>
            <a:fillRect/>
          </a:stretch>
        </p:blipFill>
        <p:spPr>
          <a:xfrm>
            <a:off x="4386807" y="5047727"/>
            <a:ext cx="813436" cy="1045846"/>
          </a:xfrm>
          <a:prstGeom prst="rect">
            <a:avLst/>
          </a:prstGeom>
        </p:spPr>
      </p:pic>
      <p:pic>
        <p:nvPicPr>
          <p:cNvPr id="7" name="Picture 6">
            <a:extLst>
              <a:ext uri="{FF2B5EF4-FFF2-40B4-BE49-F238E27FC236}">
                <a16:creationId xmlns:a16="http://schemas.microsoft.com/office/drawing/2014/main" id="{E9D6A466-BC85-4D7D-A7B1-6FC53E731457}"/>
              </a:ext>
            </a:extLst>
          </p:cNvPr>
          <p:cNvPicPr>
            <a:picLocks noChangeAspect="1"/>
          </p:cNvPicPr>
          <p:nvPr/>
        </p:nvPicPr>
        <p:blipFill>
          <a:blip r:embed="rId6"/>
          <a:stretch>
            <a:fillRect/>
          </a:stretch>
        </p:blipFill>
        <p:spPr>
          <a:xfrm>
            <a:off x="4386807" y="2956397"/>
            <a:ext cx="813436" cy="8134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5056" y="1667691"/>
            <a:ext cx="10501957" cy="2893100"/>
          </a:xfrm>
          <a:prstGeom prst="rect">
            <a:avLst/>
          </a:prstGeom>
          <a:noFill/>
        </p:spPr>
        <p:txBody>
          <a:bodyPr wrap="square" rtlCol="0">
            <a:spAutoFit/>
          </a:bodyPr>
          <a:lstStyle/>
          <a:p>
            <a:pPr algn="just"/>
            <a:r>
              <a:rPr lang="en-US" b="1" dirty="0"/>
              <a:t>AI-Based Traffic Congestion Monitoring and Alert System</a:t>
            </a:r>
          </a:p>
          <a:p>
            <a:pPr algn="just"/>
            <a:endParaRPr lang="en-US" b="1" dirty="0"/>
          </a:p>
          <a:p>
            <a:pPr algn="just"/>
            <a:r>
              <a:rPr lang="en-US" b="1" dirty="0"/>
              <a:t>The Challenge</a:t>
            </a:r>
          </a:p>
          <a:p>
            <a:pPr algn="just"/>
            <a:r>
              <a:rPr lang="en-US" dirty="0"/>
              <a:t>The primary challenges include the inability of conventional traffic signals to respond dynamically to varying traffic volumes, uneven traffic distribution across different roads, and the lack of automated priority for emergency vehicles. Additionally, the absence of real-time congestion alerts prevents drivers from making informed route decisions. Managing traffic manually or using static systems is not scalable for modern smart cities, making intelligent, automated traffic control essential.</a:t>
            </a:r>
            <a:endParaRPr lang="en-US" b="1" dirty="0"/>
          </a:p>
          <a:p>
            <a:pPr algn="just"/>
            <a:br>
              <a:rPr lang="en-US" dirty="0"/>
            </a:br>
            <a:r>
              <a:rPr lang="en-US" b="1" dirty="0"/>
              <a:t>Dynamic conditions</a:t>
            </a:r>
          </a:p>
          <a:p>
            <a:pPr algn="just"/>
            <a:r>
              <a:rPr lang="en-US" dirty="0"/>
              <a:t>The system operates under dynamic conditions by continuously evaluating vehicle count data from multiple roads. Based on the number of vehicles, traffic congestion levels are classified as high, medium, or low, and signal timings are adjusted dynamically. In emergency situations, the system immediately overrides normal traffic logic to provide priority clearance. Traffic conditions are re-evaluated after each signal cycle, ensuring adaptability to changing road scenarios.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767004"/>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48736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893255" y="1645968"/>
            <a:ext cx="10268712" cy="1384995"/>
          </a:xfrm>
          <a:prstGeom prst="rect">
            <a:avLst/>
          </a:prstGeom>
          <a:noFill/>
        </p:spPr>
        <p:txBody>
          <a:bodyPr wrap="square" rtlCol="0">
            <a:spAutoFit/>
          </a:bodyPr>
          <a:lstStyle/>
          <a:p>
            <a:pPr algn="just"/>
            <a:r>
              <a:rPr lang="en-US" dirty="0"/>
              <a:t>We propose an AI-based Traffic Congestion Monitoring and Alert System that uses trained vehicle count data to intelligently control traffic signals. Instead of fixed signal timings, the system applies AI logic to evaluate traffic density on each road and dynamically assign green signal durations based on congestion levels. Roads with higher congestion are prioritized, while less crowded roads receive shorter signal times. The system also includes an emergency vehicle priority feature that instantly overrides normal signal logic to ensure fast clearance. By generating traffic condition alerts, the solution improves traffic flow, reduces congestion, and demonstrates a smart, scalable approach for next-generation traffic management systems.</a:t>
            </a:r>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1600438"/>
          </a:xfrm>
          <a:prstGeom prst="rect">
            <a:avLst/>
          </a:prstGeom>
          <a:noFill/>
        </p:spPr>
        <p:txBody>
          <a:bodyPr wrap="square" rtlCol="0">
            <a:spAutoFit/>
          </a:bodyPr>
          <a:lstStyle/>
          <a:p>
            <a:pPr algn="just"/>
            <a:r>
              <a:rPr lang="en-US" dirty="0"/>
              <a:t>With the rapid growth of vehicles and limited road infrastructure, traffic congestion has become a serious problem in urban areas. Traditional traffic signal systems operate on fixed timings and fail to adapt to varying traffic conditions, leading to increased waiting time, fuel wastage, pollution, and delayed emergency response. There is a strong need for an intelligent system that can analyze traffic patterns using trained data, adjust signal timings dynamically, and prioritize emergency vehicles. The proposed AI-based Traffic Congestion Monitoring and Alert System addresses these issues by improving traffic flow efficiency, enhancing road safety, reducing congestion, and supporting the development of smarter and more automated traffic management solutions.</a:t>
            </a:r>
            <a:endParaRPr lang="en-IN" dirty="0"/>
          </a:p>
        </p:txBody>
      </p:sp>
      <p:sp>
        <p:nvSpPr>
          <p:cNvPr id="3" name="TextBox 2">
            <a:extLst>
              <a:ext uri="{FF2B5EF4-FFF2-40B4-BE49-F238E27FC236}">
                <a16:creationId xmlns:a16="http://schemas.microsoft.com/office/drawing/2014/main" id="{0A9D9ED1-DFE2-2CB1-E07B-2D3C44A85C9C}"/>
              </a:ext>
            </a:extLst>
          </p:cNvPr>
          <p:cNvSpPr txBox="1"/>
          <p:nvPr/>
        </p:nvSpPr>
        <p:spPr>
          <a:xfrm>
            <a:off x="1005840" y="694239"/>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961644" y="1598617"/>
            <a:ext cx="10268712" cy="1169551"/>
          </a:xfrm>
          <a:prstGeom prst="rect">
            <a:avLst/>
          </a:prstGeom>
          <a:noFill/>
        </p:spPr>
        <p:txBody>
          <a:bodyPr wrap="square" rtlCol="0">
            <a:spAutoFit/>
          </a:bodyPr>
          <a:lstStyle/>
          <a:p>
            <a:pPr algn="just"/>
            <a:r>
              <a:rPr lang="en-US" dirty="0"/>
              <a:t>The primary end users of the AI-Based Traffic Congestion Monitoring and Alert System are traffic management authorities and municipal corporations responsible for controlling and monitoring road traffic. Traffic police and control room operators can use the system to manage signal timings efficiently and handle congestion scenarios. Emergency service providers such as ambulance, fire, and police departments benefit from the priority signal feature for faster response. Additionally, city planners and smart city administrators can use the system for traffic analysis and future infrastructure planning.</a:t>
            </a:r>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05840" y="88877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741955"/>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671465"/>
            <a:ext cx="10515600" cy="3016210"/>
          </a:xfrm>
          <a:prstGeom prst="rect">
            <a:avLst/>
          </a:prstGeom>
          <a:noFill/>
        </p:spPr>
        <p:txBody>
          <a:bodyPr wrap="square" rtlCol="0">
            <a:spAutoFit/>
          </a:bodyPr>
          <a:lstStyle/>
          <a:p>
            <a:pPr marL="285750" indent="-285750">
              <a:buFont typeface="Arial" panose="020B0604020202020204" pitchFamily="34" charset="0"/>
              <a:buChar char="•"/>
            </a:pPr>
            <a:r>
              <a:rPr lang="en-US" dirty="0" err="1"/>
              <a:t>Langflow</a:t>
            </a:r>
            <a:r>
              <a:rPr lang="en-US" dirty="0"/>
              <a:t> platform</a:t>
            </a:r>
          </a:p>
          <a:p>
            <a:endParaRPr lang="en-US" dirty="0"/>
          </a:p>
          <a:p>
            <a:pPr marL="285750" indent="-285750">
              <a:buFont typeface="Arial" panose="020B0604020202020204" pitchFamily="34" charset="0"/>
              <a:buChar char="•"/>
            </a:pPr>
            <a:r>
              <a:rPr lang="en-US" dirty="0" err="1"/>
              <a:t>Langflow</a:t>
            </a:r>
            <a:r>
              <a:rPr lang="en-US" dirty="0"/>
              <a:t>  –  Agent  , Chat input , Chat output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 </a:t>
            </a:r>
            <a:r>
              <a:rPr lang="en-US" dirty="0" err="1"/>
              <a:t>Grainte</a:t>
            </a:r>
            <a:r>
              <a:rPr lang="en-US" dirty="0"/>
              <a:t> model  – ibm-granite-3-2-8b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 Cloud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064264" y="87954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51D3A"/>
                </a:solidFill>
                <a:latin typeface="Times New Roman"/>
                <a:ea typeface="Times New Roman"/>
                <a:cs typeface="Times New Roman"/>
                <a:sym typeface="Times New Roman"/>
              </a:rPr>
              <a:t>Novelty and Uniqueness</a:t>
            </a:r>
            <a:endParaRPr sz="24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10063472" cy="3018918"/>
          </a:xfrm>
          <a:prstGeom prst="rect">
            <a:avLst/>
          </a:prstGeom>
          <a:noFill/>
          <a:ln>
            <a:noFill/>
          </a:ln>
        </p:spPr>
        <p:txBody>
          <a:bodyPr spcFirstLastPara="1" wrap="square" lIns="0" tIns="0" rIns="0" bIns="0" anchor="t" anchorCtr="0">
            <a:noAutofit/>
          </a:bodyPr>
          <a:lstStyle/>
          <a:p>
            <a:pPr marL="0" marR="0" lvl="0" indent="0" algn="just" rtl="0">
              <a:lnSpc>
                <a:spcPct val="162162"/>
              </a:lnSpc>
              <a:spcBef>
                <a:spcPts val="0"/>
              </a:spcBef>
              <a:spcAft>
                <a:spcPts val="0"/>
              </a:spcAft>
              <a:buClr>
                <a:srgbClr val="2B3541"/>
              </a:buClr>
              <a:buSzPts val="1850"/>
              <a:buFont typeface="Times New Roman"/>
              <a:buNone/>
            </a:pPr>
            <a:r>
              <a:rPr lang="en-US" dirty="0"/>
              <a:t>The novelty of this project lies in its AI-driven approach to traffic signal control using trained vehicle count data instead of fixed-time logic or continuous real-time sensing. The system dynamically classifies traffic congestion levels and adjusts signal timings intelligently, making it more adaptive than traditional methods. A key unique feature is the emergency vehicle priority mechanism, which overrides normal traffic flow to ensure immediate clearance. Additionally, the integration of congestion-based alert generation enhances traffic awareness and decision-making. The project offers a scalable, cost-effective solution that can be extended to smart city applications without requiring complex real-time infrastructure.</a:t>
            </a:r>
            <a:endParaRPr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720411" y="94138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components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65321" y="1422182"/>
            <a:ext cx="8823960" cy="3323987"/>
          </a:xfrm>
          <a:prstGeom prst="rect">
            <a:avLst/>
          </a:prstGeom>
          <a:noFill/>
        </p:spPr>
        <p:txBody>
          <a:bodyPr wrap="square" rtlCol="0">
            <a:spAutoFit/>
          </a:bodyPr>
          <a:lstStyle/>
          <a:p>
            <a:endParaRPr lang="en-US" dirty="0"/>
          </a:p>
          <a:p>
            <a:r>
              <a:rPr lang="en-US" dirty="0"/>
              <a:t>1)    Chat Input </a:t>
            </a:r>
          </a:p>
          <a:p>
            <a:endParaRPr lang="en-US" dirty="0"/>
          </a:p>
          <a:p>
            <a:r>
              <a:rPr lang="en-US" dirty="0"/>
              <a:t>2)    IBM </a:t>
            </a:r>
            <a:r>
              <a:rPr lang="en-US" dirty="0" err="1"/>
              <a:t>watsonx</a:t>
            </a:r>
            <a:r>
              <a:rPr lang="en-US" dirty="0"/>
              <a:t> AI Agent</a:t>
            </a:r>
          </a:p>
          <a:p>
            <a:endParaRPr lang="en-US" dirty="0"/>
          </a:p>
          <a:p>
            <a:pPr marL="342900" indent="-342900">
              <a:buAutoNum type="arabicParenR" startAt="3"/>
            </a:pPr>
            <a:r>
              <a:rPr lang="en-US" dirty="0"/>
              <a:t>If-Else flow</a:t>
            </a:r>
          </a:p>
          <a:p>
            <a:pPr marL="342900" indent="-342900">
              <a:buAutoNum type="arabicParenR" startAt="3"/>
            </a:pPr>
            <a:endParaRPr lang="en-US" dirty="0"/>
          </a:p>
          <a:p>
            <a:pPr marL="342900" indent="-342900">
              <a:buAutoNum type="arabicParenR" startAt="3"/>
            </a:pPr>
            <a:r>
              <a:rPr lang="en-US" dirty="0"/>
              <a:t>Chat output </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205279" y="876073"/>
            <a:ext cx="728557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dirty="0">
              <a:solidFill>
                <a:schemeClr val="dk1"/>
              </a:solidFill>
            </a:endParaRP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660909D-26D7-4EE3-B877-8B05BED47E47}"/>
              </a:ext>
            </a:extLst>
          </p:cNvPr>
          <p:cNvPicPr>
            <a:picLocks noChangeAspect="1"/>
          </p:cNvPicPr>
          <p:nvPr/>
        </p:nvPicPr>
        <p:blipFill>
          <a:blip r:embed="rId4"/>
          <a:stretch>
            <a:fillRect/>
          </a:stretch>
        </p:blipFill>
        <p:spPr>
          <a:xfrm>
            <a:off x="754235" y="1862977"/>
            <a:ext cx="10683529" cy="3284535"/>
          </a:xfrm>
          <a:prstGeom prst="rect">
            <a:avLst/>
          </a:prstGeom>
        </p:spPr>
      </p:pic>
    </p:spTree>
    <p:extLst>
      <p:ext uri="{BB962C8B-B14F-4D97-AF65-F5344CB8AC3E}">
        <p14:creationId xmlns:p14="http://schemas.microsoft.com/office/powerpoint/2010/main" val="526661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835283" y="775778"/>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Screenshot :</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3" name="AutoShape 2">
            <a:extLst>
              <a:ext uri="{FF2B5EF4-FFF2-40B4-BE49-F238E27FC236}">
                <a16:creationId xmlns:a16="http://schemas.microsoft.com/office/drawing/2014/main" id="{EE662493-A799-4412-920A-9D40FBD427F0}"/>
              </a:ext>
            </a:extLst>
          </p:cNvPr>
          <p:cNvSpPr>
            <a:spLocks noChangeAspect="1" noChangeArrowheads="1"/>
          </p:cNvSpPr>
          <p:nvPr/>
        </p:nvSpPr>
        <p:spPr bwMode="auto">
          <a:xfrm>
            <a:off x="5943599" y="3276599"/>
            <a:ext cx="2724539" cy="27245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5FD11CDE-F312-4121-A054-FCC6EAA5AE49}"/>
              </a:ext>
            </a:extLst>
          </p:cNvPr>
          <p:cNvPicPr>
            <a:picLocks noChangeAspect="1"/>
          </p:cNvPicPr>
          <p:nvPr/>
        </p:nvPicPr>
        <p:blipFill>
          <a:blip r:embed="rId4"/>
          <a:stretch>
            <a:fillRect/>
          </a:stretch>
        </p:blipFill>
        <p:spPr>
          <a:xfrm>
            <a:off x="939107" y="1365730"/>
            <a:ext cx="9511179" cy="4716492"/>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205279" y="876073"/>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AutoShape 2">
            <a:extLst>
              <a:ext uri="{FF2B5EF4-FFF2-40B4-BE49-F238E27FC236}">
                <a16:creationId xmlns:a16="http://schemas.microsoft.com/office/drawing/2014/main" id="{4748910B-9A89-45CC-AAFE-FB2125F9E8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3BE39A39-36EC-4DAD-AFFA-122F19394ABC}"/>
              </a:ext>
            </a:extLst>
          </p:cNvPr>
          <p:cNvPicPr>
            <a:picLocks noChangeAspect="1"/>
          </p:cNvPicPr>
          <p:nvPr/>
        </p:nvPicPr>
        <p:blipFill>
          <a:blip r:embed="rId4"/>
          <a:stretch>
            <a:fillRect/>
          </a:stretch>
        </p:blipFill>
        <p:spPr>
          <a:xfrm>
            <a:off x="1205279" y="1398553"/>
            <a:ext cx="7511706" cy="4583374"/>
          </a:xfrm>
          <a:prstGeom prst="rect">
            <a:avLst/>
          </a:prstGeom>
        </p:spPr>
      </p:pic>
    </p:spTree>
    <p:extLst>
      <p:ext uri="{BB962C8B-B14F-4D97-AF65-F5344CB8AC3E}">
        <p14:creationId xmlns:p14="http://schemas.microsoft.com/office/powerpoint/2010/main" val="398412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86537" y="81126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AutoShape 2">
            <a:extLst>
              <a:ext uri="{FF2B5EF4-FFF2-40B4-BE49-F238E27FC236}">
                <a16:creationId xmlns:a16="http://schemas.microsoft.com/office/drawing/2014/main" id="{4748910B-9A89-45CC-AAFE-FB2125F9E8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a:extLst>
              <a:ext uri="{FF2B5EF4-FFF2-40B4-BE49-F238E27FC236}">
                <a16:creationId xmlns:a16="http://schemas.microsoft.com/office/drawing/2014/main" id="{6E640D7D-286E-432F-8A7A-4C10602F56F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a:extLst>
              <a:ext uri="{FF2B5EF4-FFF2-40B4-BE49-F238E27FC236}">
                <a16:creationId xmlns:a16="http://schemas.microsoft.com/office/drawing/2014/main" id="{E89CD5AD-A15C-442D-B0CC-6034E720A8FB}"/>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a:extLst>
              <a:ext uri="{FF2B5EF4-FFF2-40B4-BE49-F238E27FC236}">
                <a16:creationId xmlns:a16="http://schemas.microsoft.com/office/drawing/2014/main" id="{7BE59A0A-FEC4-46E4-9D8C-CD202CBE14F5}"/>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97688129-B242-4C2E-ACB5-A698F5B0A08E}"/>
              </a:ext>
            </a:extLst>
          </p:cNvPr>
          <p:cNvPicPr>
            <a:picLocks noChangeAspect="1"/>
          </p:cNvPicPr>
          <p:nvPr/>
        </p:nvPicPr>
        <p:blipFill>
          <a:blip r:embed="rId4"/>
          <a:stretch>
            <a:fillRect/>
          </a:stretch>
        </p:blipFill>
        <p:spPr>
          <a:xfrm>
            <a:off x="1086537" y="1628360"/>
            <a:ext cx="7829550" cy="1226986"/>
          </a:xfrm>
          <a:prstGeom prst="rect">
            <a:avLst/>
          </a:prstGeom>
        </p:spPr>
      </p:pic>
      <p:pic>
        <p:nvPicPr>
          <p:cNvPr id="11" name="Picture 10">
            <a:extLst>
              <a:ext uri="{FF2B5EF4-FFF2-40B4-BE49-F238E27FC236}">
                <a16:creationId xmlns:a16="http://schemas.microsoft.com/office/drawing/2014/main" id="{709EB380-3FCD-4E29-A40E-117B79958DFE}"/>
              </a:ext>
            </a:extLst>
          </p:cNvPr>
          <p:cNvPicPr>
            <a:picLocks noChangeAspect="1"/>
          </p:cNvPicPr>
          <p:nvPr/>
        </p:nvPicPr>
        <p:blipFill>
          <a:blip r:embed="rId5"/>
          <a:stretch>
            <a:fillRect/>
          </a:stretch>
        </p:blipFill>
        <p:spPr>
          <a:xfrm>
            <a:off x="1086537" y="2834465"/>
            <a:ext cx="7829550" cy="2943225"/>
          </a:xfrm>
          <a:prstGeom prst="rect">
            <a:avLst/>
          </a:prstGeom>
        </p:spPr>
      </p:pic>
    </p:spTree>
    <p:extLst>
      <p:ext uri="{BB962C8B-B14F-4D97-AF65-F5344CB8AC3E}">
        <p14:creationId xmlns:p14="http://schemas.microsoft.com/office/powerpoint/2010/main" val="3663104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79104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51D3A"/>
                </a:solidFill>
                <a:latin typeface="Times New Roman"/>
                <a:ea typeface="Times New Roman"/>
                <a:cs typeface="Times New Roman"/>
                <a:sym typeface="Times New Roman"/>
              </a:rPr>
              <a:t>Future Scope </a:t>
            </a:r>
            <a:endParaRPr sz="24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690544" cy="4277001"/>
          </a:xfrm>
          <a:prstGeom prst="rect">
            <a:avLst/>
          </a:prstGeom>
          <a:noFill/>
          <a:ln>
            <a:noFill/>
          </a:ln>
        </p:spPr>
        <p:txBody>
          <a:bodyPr spcFirstLastPara="1" wrap="square" lIns="0" tIns="0" rIns="0" bIns="0" anchor="t" anchorCtr="0">
            <a:noAutofit/>
          </a:bodyPr>
          <a:lstStyle/>
          <a:p>
            <a:pPr marL="0" marR="0" lvl="0" indent="0" algn="just" rtl="0">
              <a:lnSpc>
                <a:spcPct val="162162"/>
              </a:lnSpc>
              <a:spcBef>
                <a:spcPts val="0"/>
              </a:spcBef>
              <a:spcAft>
                <a:spcPts val="0"/>
              </a:spcAft>
              <a:buClr>
                <a:srgbClr val="2B3541"/>
              </a:buClr>
              <a:buSzPts val="1850"/>
              <a:buFont typeface="Times New Roman"/>
              <a:buNone/>
            </a:pPr>
            <a:r>
              <a:rPr lang="en-US" dirty="0"/>
              <a:t>The proposed system can be further enhanced by integrating live traffic data from cameras and IoT sensors to enable real-time traffic monitoring. Advanced machine learning models can be added to predict traffic congestion in advance and optimize signal timings proactively. The system can be extended with mobile and web applications to provide traffic alerts and route suggestions to users. Visualization features such as traffic heatmaps and dashboards can support better decision-making for traffic authorities. Additionally, integration with smart city infrastructure and emergency response systems can make the solution more robust, scalable, and practical for large-scale urban</a:t>
            </a:r>
            <a:endParaRPr lang="en-US"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79104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51D3A"/>
                </a:solidFill>
                <a:latin typeface="Times New Roman"/>
                <a:ea typeface="Times New Roman"/>
                <a:cs typeface="Times New Roman"/>
                <a:sym typeface="Times New Roman"/>
              </a:rPr>
              <a:t>Git Hub Link</a:t>
            </a:r>
            <a:endParaRPr sz="24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https://github.com/navaneethgowdag/AI-Traffic-Signal-System.git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791049"/>
            <a:ext cx="6444496" cy="704017"/>
          </a:xfrm>
          <a:prstGeom prst="rect">
            <a:avLst/>
          </a:prstGeom>
          <a:noFill/>
          <a:ln>
            <a:noFill/>
          </a:ln>
        </p:spPr>
        <p:txBody>
          <a:bodyPr spcFirstLastPara="1" wrap="square" lIns="0" tIns="0" rIns="0" bIns="0" anchor="t" anchorCtr="0">
            <a:noAutofit/>
          </a:bodyPr>
          <a:lstStyle/>
          <a:p>
            <a:pPr>
              <a:lnSpc>
                <a:spcPct val="157142"/>
              </a:lnSpc>
            </a:pPr>
            <a:r>
              <a:rPr lang="en-US" sz="2400" b="1" dirty="0">
                <a:solidFill>
                  <a:srgbClr val="051D3A"/>
                </a:solidFill>
                <a:latin typeface="Times New Roman"/>
                <a:cs typeface="Times New Roman"/>
                <a:sym typeface="Times New Roman"/>
              </a:rPr>
              <a:t>References </a:t>
            </a:r>
            <a:endParaRPr lang="en-US" sz="2400"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algn="just">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Reference 1: IBM Watsonx.ai Official Documentation</a:t>
            </a:r>
          </a:p>
          <a:p>
            <a:pPr algn="just">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Reference 2: IBM Granite Foundation Models – Technical Overview</a:t>
            </a:r>
            <a:endParaRPr lang="en-US" sz="1850" dirty="0">
              <a:solidFill>
                <a:srgbClr val="2B3541"/>
              </a:solidFill>
              <a:latin typeface="Times New Roman"/>
              <a:ea typeface="Times New Roman"/>
              <a:cs typeface="Times New Roman"/>
              <a:sym typeface="Times New Roman"/>
            </a:endParaRPr>
          </a:p>
          <a:p>
            <a:pPr algn="just">
              <a:lnSpc>
                <a:spcPct val="162162"/>
              </a:lnSpc>
              <a:buClr>
                <a:srgbClr val="2B3541"/>
              </a:buClr>
              <a:buSzPts val="1850"/>
            </a:pPr>
            <a:r>
              <a:rPr lang="en-IN" sz="1850" b="0" i="0" u="none" strike="noStrike" cap="none" dirty="0">
                <a:solidFill>
                  <a:srgbClr val="000000"/>
                </a:solidFill>
                <a:latin typeface="Times New Roman"/>
                <a:ea typeface="Times New Roman"/>
                <a:cs typeface="Times New Roman"/>
                <a:sym typeface="Times New Roman"/>
              </a:rPr>
              <a:t>Reference 3: </a:t>
            </a:r>
            <a:r>
              <a:rPr lang="en-IN" sz="1850" b="0" i="0" u="none" strike="noStrike" cap="none" dirty="0" err="1">
                <a:solidFill>
                  <a:srgbClr val="000000"/>
                </a:solidFill>
                <a:latin typeface="Times New Roman"/>
                <a:ea typeface="Times New Roman"/>
                <a:cs typeface="Times New Roman"/>
                <a:sym typeface="Times New Roman"/>
              </a:rPr>
              <a:t>Langflow</a:t>
            </a:r>
            <a:r>
              <a:rPr lang="en-IN" sz="1850" b="0" i="0" u="none" strike="noStrike" cap="none" dirty="0">
                <a:solidFill>
                  <a:srgbClr val="000000"/>
                </a:solidFill>
                <a:latin typeface="Times New Roman"/>
                <a:ea typeface="Times New Roman"/>
                <a:cs typeface="Times New Roman"/>
                <a:sym typeface="Times New Roman"/>
              </a:rPr>
              <a:t> Platform Documentation</a:t>
            </a:r>
            <a:endParaRPr lang="en-US" sz="1850" b="0" i="0" u="none" strike="noStrike" cap="none" dirty="0">
              <a:solidFill>
                <a:srgbClr val="2B3541"/>
              </a:solidFill>
              <a:latin typeface="Times New Roman"/>
              <a:ea typeface="Times New Roman"/>
              <a:cs typeface="Times New Roman"/>
              <a:sym typeface="Times New Roman"/>
            </a:endParaRPr>
          </a:p>
          <a:p>
            <a:pPr algn="just">
              <a:lnSpc>
                <a:spcPct val="162162"/>
              </a:lnSpc>
              <a:buClr>
                <a:srgbClr val="2B3541"/>
              </a:buClr>
              <a:buSzPts val="1850"/>
            </a:pPr>
            <a:r>
              <a:rPr lang="en-IN" sz="1850" b="0" i="0" u="none" strike="noStrike" cap="none" dirty="0">
                <a:solidFill>
                  <a:srgbClr val="000000"/>
                </a:solidFill>
                <a:latin typeface="Times New Roman"/>
                <a:ea typeface="Times New Roman"/>
                <a:cs typeface="Times New Roman"/>
                <a:sym typeface="Times New Roman"/>
              </a:rPr>
              <a:t>Reference 4: Python Official Documentation</a:t>
            </a:r>
            <a:endParaRPr lang="en-US" sz="1850" dirty="0">
              <a:solidFill>
                <a:srgbClr val="2B3541"/>
              </a:solidFill>
              <a:latin typeface="Times New Roman"/>
              <a:ea typeface="Times New Roman"/>
              <a:cs typeface="Times New Roman"/>
              <a:sym typeface="Times New Roman"/>
            </a:endParaRPr>
          </a:p>
          <a:p>
            <a:pPr algn="just">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Reference 5: Machine Learning Concepts for Traffic Flow Optimization</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1269</TotalTime>
  <Words>894</Words>
  <Application>Microsoft Office PowerPoint</Application>
  <PresentationFormat>Widescreen</PresentationFormat>
  <Paragraphs>87</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student</cp:lastModifiedBy>
  <cp:revision>122</cp:revision>
  <dcterms:created xsi:type="dcterms:W3CDTF">2025-07-08T05:06:56Z</dcterms:created>
  <dcterms:modified xsi:type="dcterms:W3CDTF">2026-01-28T07:48:35Z</dcterms:modified>
</cp:coreProperties>
</file>